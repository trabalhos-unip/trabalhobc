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eague Spartan" charset="1" panose="00000800000000000000"/>
      <p:regular r:id="rId11"/>
    </p:embeddedFont>
    <p:embeddedFont>
      <p:font typeface="Open Sans Bold" charset="1" panose="020B0806030504020204"/>
      <p:regular r:id="rId12"/>
    </p:embeddedFont>
    <p:embeddedFont>
      <p:font typeface="Open Sans" charset="1" panose="020B0606030504020204"/>
      <p:regular r:id="rId13"/>
    </p:embeddedFont>
    <p:embeddedFont>
      <p:font typeface="Canva Sans" charset="1" panose="020B05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7358" y="85283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6000">
              <a:off x="-293" y="-385"/>
              <a:ext cx="525453" cy="419725"/>
            </a:xfrm>
            <a:custGeom>
              <a:avLst/>
              <a:gdLst/>
              <a:ahLst/>
              <a:cxnLst/>
              <a:rect r="r" b="b" t="t" l="l"/>
              <a:pathLst>
                <a:path h="419725" w="525453">
                  <a:moveTo>
                    <a:pt x="41591" y="771"/>
                  </a:moveTo>
                  <a:lnTo>
                    <a:pt x="483131" y="0"/>
                  </a:lnTo>
                  <a:cubicBezTo>
                    <a:pt x="494181" y="-19"/>
                    <a:pt x="504786" y="4352"/>
                    <a:pt x="512613" y="12152"/>
                  </a:cubicBezTo>
                  <a:cubicBezTo>
                    <a:pt x="520440" y="19951"/>
                    <a:pt x="524848" y="30541"/>
                    <a:pt x="524867" y="41591"/>
                  </a:cubicBezTo>
                  <a:lnTo>
                    <a:pt x="525453" y="377218"/>
                  </a:lnTo>
                  <a:cubicBezTo>
                    <a:pt x="525493" y="400228"/>
                    <a:pt x="506873" y="418914"/>
                    <a:pt x="483862" y="418955"/>
                  </a:cubicBezTo>
                  <a:lnTo>
                    <a:pt x="42323" y="419725"/>
                  </a:lnTo>
                  <a:cubicBezTo>
                    <a:pt x="19312" y="419765"/>
                    <a:pt x="626" y="401145"/>
                    <a:pt x="586" y="378134"/>
                  </a:cubicBezTo>
                  <a:lnTo>
                    <a:pt x="1" y="42507"/>
                  </a:lnTo>
                  <a:cubicBezTo>
                    <a:pt x="-40" y="19497"/>
                    <a:pt x="18581" y="811"/>
                    <a:pt x="41591" y="771"/>
                  </a:cubicBezTo>
                  <a:close/>
                </a:path>
              </a:pathLst>
            </a:custGeom>
            <a:blipFill>
              <a:blip r:embed="rId2"/>
              <a:stretch>
                <a:fillRect l="-6638" t="-67" r="-8236" b="-750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77766" y="2379739"/>
            <a:ext cx="5712228" cy="287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2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SELECT id_livro, titulo, autor, genero, ano_lancamento, data_cadastro</a:t>
            </a:r>
          </a:p>
          <a:p>
            <a:pPr algn="l">
              <a:lnSpc>
                <a:spcPts val="3795"/>
              </a:lnSpc>
            </a:pPr>
            <a:r>
              <a:rPr lang="en-US" sz="2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FROM livros</a:t>
            </a:r>
          </a:p>
          <a:p>
            <a:pPr algn="l">
              <a:lnSpc>
                <a:spcPts val="3795"/>
              </a:lnSpc>
            </a:pPr>
            <a:r>
              <a:rPr lang="en-US" sz="2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ORDER BY data_cadastro DESC;</a:t>
            </a:r>
          </a:p>
          <a:p>
            <a:pPr algn="l" marL="0" indent="0" lvl="0">
              <a:lnSpc>
                <a:spcPts val="379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177766" y="687627"/>
            <a:ext cx="5336781" cy="128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1 — Listagem de Livros (Read)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Abre o sistema, aba Livros. Print da listagem com os 4 livros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551" y="409259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868" cy="418955"/>
            </a:xfrm>
            <a:custGeom>
              <a:avLst/>
              <a:gdLst/>
              <a:ahLst/>
              <a:cxnLst/>
              <a:rect r="r" b="b" t="t" l="l"/>
              <a:pathLst>
                <a:path h="418955" w="524868">
                  <a:moveTo>
                    <a:pt x="41664" y="0"/>
                  </a:moveTo>
                  <a:lnTo>
                    <a:pt x="483204" y="0"/>
                  </a:lnTo>
                  <a:cubicBezTo>
                    <a:pt x="494254" y="0"/>
                    <a:pt x="504851" y="4390"/>
                    <a:pt x="512665" y="12203"/>
                  </a:cubicBezTo>
                  <a:cubicBezTo>
                    <a:pt x="520478" y="20016"/>
                    <a:pt x="524868" y="30614"/>
                    <a:pt x="524868" y="41664"/>
                  </a:cubicBezTo>
                  <a:lnTo>
                    <a:pt x="524868" y="377292"/>
                  </a:lnTo>
                  <a:cubicBezTo>
                    <a:pt x="524868" y="400302"/>
                    <a:pt x="506214" y="418955"/>
                    <a:pt x="483204" y="418955"/>
                  </a:cubicBezTo>
                  <a:lnTo>
                    <a:pt x="41664" y="418955"/>
                  </a:lnTo>
                  <a:cubicBezTo>
                    <a:pt x="18653" y="418955"/>
                    <a:pt x="0" y="400302"/>
                    <a:pt x="0" y="377292"/>
                  </a:cubicBezTo>
                  <a:lnTo>
                    <a:pt x="0" y="41664"/>
                  </a:lnTo>
                  <a:cubicBezTo>
                    <a:pt x="0" y="18653"/>
                    <a:pt x="18653" y="0"/>
                    <a:pt x="4166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77766" y="2398789"/>
            <a:ext cx="5712228" cy="485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INSERT INTO livros (titulo, autor, genero, ano_lancamento, resumo, data_cadastro)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VALUES (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'Paulo e Estêvão',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'Francisco Cândido Xavier',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'Romance Espírita',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1932,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'Pela mediunidade de Chico Xavier, o livro narra a missão apostólica de Paulo e Estêvão nos primeiros anos do Cristianismo.',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'2026-09-15'</a:t>
            </a:r>
          </a:p>
          <a:p>
            <a:pPr algn="l" marL="0" indent="0" lvl="0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77766" y="848283"/>
            <a:ext cx="5336781" cy="96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2 — Modal: Cadastro de Livro (Create)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reenche o modal com: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551" y="409259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868" cy="418955"/>
            </a:xfrm>
            <a:custGeom>
              <a:avLst/>
              <a:gdLst/>
              <a:ahLst/>
              <a:cxnLst/>
              <a:rect r="r" b="b" t="t" l="l"/>
              <a:pathLst>
                <a:path h="418955" w="524868">
                  <a:moveTo>
                    <a:pt x="41664" y="0"/>
                  </a:moveTo>
                  <a:lnTo>
                    <a:pt x="483204" y="0"/>
                  </a:lnTo>
                  <a:cubicBezTo>
                    <a:pt x="494254" y="0"/>
                    <a:pt x="504851" y="4390"/>
                    <a:pt x="512665" y="12203"/>
                  </a:cubicBezTo>
                  <a:cubicBezTo>
                    <a:pt x="520478" y="20016"/>
                    <a:pt x="524868" y="30614"/>
                    <a:pt x="524868" y="41664"/>
                  </a:cubicBezTo>
                  <a:lnTo>
                    <a:pt x="524868" y="377292"/>
                  </a:lnTo>
                  <a:cubicBezTo>
                    <a:pt x="524868" y="400302"/>
                    <a:pt x="506214" y="418955"/>
                    <a:pt x="483204" y="418955"/>
                  </a:cubicBezTo>
                  <a:lnTo>
                    <a:pt x="41664" y="418955"/>
                  </a:lnTo>
                  <a:cubicBezTo>
                    <a:pt x="18653" y="418955"/>
                    <a:pt x="0" y="400302"/>
                    <a:pt x="0" y="377292"/>
                  </a:cubicBezTo>
                  <a:lnTo>
                    <a:pt x="0" y="41664"/>
                  </a:lnTo>
                  <a:cubicBezTo>
                    <a:pt x="0" y="18653"/>
                    <a:pt x="18653" y="0"/>
                    <a:pt x="41664" y="0"/>
                  </a:cubicBezTo>
                  <a:close/>
                </a:path>
              </a:pathLst>
            </a:custGeom>
            <a:blipFill>
              <a:blip r:embed="rId2"/>
              <a:stretch>
                <a:fillRect l="-4862" t="0" r="-486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77766" y="2429270"/>
            <a:ext cx="5712228" cy="110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SELECT * FROM livros WHERE titulo = 'Paulo e Estêvão';</a:t>
            </a:r>
          </a:p>
          <a:p>
            <a:pPr algn="l" marL="0" indent="0" lvl="0">
              <a:lnSpc>
                <a:spcPts val="295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177766" y="959836"/>
            <a:ext cx="5336781" cy="96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2 — Modal: Cadastro de Livro (Create)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Veja os detalhes do livro cadastrado.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551" y="409259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868" cy="418955"/>
            </a:xfrm>
            <a:custGeom>
              <a:avLst/>
              <a:gdLst/>
              <a:ahLst/>
              <a:cxnLst/>
              <a:rect r="r" b="b" t="t" l="l"/>
              <a:pathLst>
                <a:path h="418955" w="524868">
                  <a:moveTo>
                    <a:pt x="41664" y="0"/>
                  </a:moveTo>
                  <a:lnTo>
                    <a:pt x="483204" y="0"/>
                  </a:lnTo>
                  <a:cubicBezTo>
                    <a:pt x="494254" y="0"/>
                    <a:pt x="504851" y="4390"/>
                    <a:pt x="512665" y="12203"/>
                  </a:cubicBezTo>
                  <a:cubicBezTo>
                    <a:pt x="520478" y="20016"/>
                    <a:pt x="524868" y="30614"/>
                    <a:pt x="524868" y="41664"/>
                  </a:cubicBezTo>
                  <a:lnTo>
                    <a:pt x="524868" y="377292"/>
                  </a:lnTo>
                  <a:cubicBezTo>
                    <a:pt x="524868" y="400302"/>
                    <a:pt x="506214" y="418955"/>
                    <a:pt x="483204" y="418955"/>
                  </a:cubicBezTo>
                  <a:lnTo>
                    <a:pt x="41664" y="418955"/>
                  </a:lnTo>
                  <a:cubicBezTo>
                    <a:pt x="18653" y="418955"/>
                    <a:pt x="0" y="400302"/>
                    <a:pt x="0" y="377292"/>
                  </a:cubicBezTo>
                  <a:lnTo>
                    <a:pt x="0" y="41664"/>
                  </a:lnTo>
                  <a:cubicBezTo>
                    <a:pt x="0" y="18653"/>
                    <a:pt x="18653" y="0"/>
                    <a:pt x="4166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819" r="0" b="-6819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77766" y="2228640"/>
          <a:ext cx="5712228" cy="2288598"/>
        </p:xfrm>
        <a:graphic>
          <a:graphicData uri="http://schemas.openxmlformats.org/drawingml/2006/table">
            <a:tbl>
              <a:tblPr/>
              <a:tblGrid>
                <a:gridCol w="2762029"/>
                <a:gridCol w="2950200"/>
              </a:tblGrid>
              <a:tr h="762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61"/>
                        </a:lnSpc>
                        <a:defRPr/>
                      </a:pPr>
                      <a:r>
                        <a:rPr lang="en-US" sz="168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Campo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61"/>
                        </a:lnSpc>
                        <a:defRPr/>
                      </a:pPr>
                      <a:r>
                        <a:rPr lang="en-US" sz="168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Novo Valor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762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4"/>
                        </a:lnSpc>
                        <a:defRPr/>
                      </a:pPr>
                      <a:r>
                        <a:rPr lang="en-US" sz="154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E-mail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4"/>
                        </a:lnSpc>
                        <a:defRPr/>
                      </a:pPr>
                      <a:r>
                        <a:rPr lang="en-US" sz="154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carlosedu.lima@email.com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8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4"/>
                        </a:lnSpc>
                        <a:defRPr/>
                      </a:pPr>
                      <a:r>
                        <a:rPr lang="en-US" sz="1546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Telefone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58"/>
                        </a:lnSpc>
                        <a:defRPr/>
                      </a:pPr>
                      <a:r>
                        <a:rPr lang="en-US" sz="1827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(11) 99999-0000</a:t>
                      </a:r>
                      <a:endParaRPr lang="en-US" sz="1100"/>
                    </a:p>
                  </a:txBody>
                  <a:tcPr marL="107104" marR="107104" marT="107104" marB="107104" anchor="ctr">
                    <a:lnL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388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2237768" y="4938617"/>
            <a:ext cx="5652226" cy="287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UPDATE leitores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 email    = 'carlosedu.lima@email.com',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telefone = '(11) 99999-0000'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WHERE id_leitor = 2;</a:t>
            </a:r>
          </a:p>
          <a:p>
            <a:pPr algn="l">
              <a:lnSpc>
                <a:spcPts val="2951"/>
              </a:lnSpc>
            </a:pP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-- Verificação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SELECT * FROM leitores WHERE id_leitor = 2;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7766" y="687627"/>
            <a:ext cx="5336781" cy="128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4 — Modal: Edição de Leitor (Update)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Clica em edita</a:t>
            </a: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em Carlos Eduardo Lima e altera: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551" y="409259"/>
            <a:ext cx="11491969" cy="9173017"/>
            <a:chOff x="0" y="0"/>
            <a:chExt cx="524868" cy="418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868" cy="418955"/>
            </a:xfrm>
            <a:custGeom>
              <a:avLst/>
              <a:gdLst/>
              <a:ahLst/>
              <a:cxnLst/>
              <a:rect r="r" b="b" t="t" l="l"/>
              <a:pathLst>
                <a:path h="418955" w="524868">
                  <a:moveTo>
                    <a:pt x="41664" y="0"/>
                  </a:moveTo>
                  <a:lnTo>
                    <a:pt x="483204" y="0"/>
                  </a:lnTo>
                  <a:cubicBezTo>
                    <a:pt x="494254" y="0"/>
                    <a:pt x="504851" y="4390"/>
                    <a:pt x="512665" y="12203"/>
                  </a:cubicBezTo>
                  <a:cubicBezTo>
                    <a:pt x="520478" y="20016"/>
                    <a:pt x="524868" y="30614"/>
                    <a:pt x="524868" y="41664"/>
                  </a:cubicBezTo>
                  <a:lnTo>
                    <a:pt x="524868" y="377292"/>
                  </a:lnTo>
                  <a:cubicBezTo>
                    <a:pt x="524868" y="400302"/>
                    <a:pt x="506214" y="418955"/>
                    <a:pt x="483204" y="418955"/>
                  </a:cubicBezTo>
                  <a:lnTo>
                    <a:pt x="41664" y="418955"/>
                  </a:lnTo>
                  <a:cubicBezTo>
                    <a:pt x="18653" y="418955"/>
                    <a:pt x="0" y="400302"/>
                    <a:pt x="0" y="377292"/>
                  </a:cubicBezTo>
                  <a:lnTo>
                    <a:pt x="0" y="41664"/>
                  </a:lnTo>
                  <a:cubicBezTo>
                    <a:pt x="0" y="18653"/>
                    <a:pt x="18653" y="0"/>
                    <a:pt x="41664" y="0"/>
                  </a:cubicBezTo>
                  <a:close/>
                </a:path>
              </a:pathLst>
            </a:custGeom>
            <a:blipFill>
              <a:blip r:embed="rId2"/>
              <a:stretch>
                <a:fillRect l="-21032" t="-16941" r="-22607" b="-1831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77766" y="2684203"/>
            <a:ext cx="5652226" cy="142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FROM livros WHERE id_livro = 8;</a:t>
            </a:r>
          </a:p>
          <a:p>
            <a:pPr algn="l">
              <a:lnSpc>
                <a:spcPts val="2951"/>
              </a:lnSpc>
            </a:pP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-- Verificação</a:t>
            </a:r>
          </a:p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SELECT * FROM livros;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77766" y="643663"/>
            <a:ext cx="5336781" cy="192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  <a:spcBef>
                <a:spcPct val="0"/>
              </a:spcBef>
            </a:pP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Print 5 — Exclusão de Livro (Delete)</a:t>
            </a:r>
          </a:p>
          <a:p>
            <a:pPr algn="just">
              <a:lnSpc>
                <a:spcPts val="2610"/>
              </a:lnSpc>
              <a:spcBef>
                <a:spcPct val="0"/>
              </a:spcBef>
            </a:pPr>
          </a:p>
          <a:p>
            <a:pPr algn="l">
              <a:lnSpc>
                <a:spcPts val="2610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Clica em exclui</a:t>
            </a: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em </a:t>
            </a:r>
            <a:r>
              <a:rPr lang="en-US" b="true" sz="186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Frankenstein</a:t>
            </a:r>
            <a:r>
              <a:rPr lang="en-US" sz="18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será aberto um modal de confirmação, e você ira confirmar a exclusão do Livro Frankenstein.</a:t>
            </a:r>
          </a:p>
          <a:p>
            <a:pPr algn="l">
              <a:lnSpc>
                <a:spcPts val="26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DAHVOuNeygI</dc:identifier>
  <dcterms:modified xsi:type="dcterms:W3CDTF">2011-08-01T06:04:30Z</dcterms:modified>
  <cp:revision>1</cp:revision>
  <dc:title>Website para campeonato estilo Minimalista</dc:title>
</cp:coreProperties>
</file>